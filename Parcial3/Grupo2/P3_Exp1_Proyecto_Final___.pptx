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.png"/><Relationship Id="rId7" Type="http://schemas.openxmlformats.org/officeDocument/2006/relationships/image" Target="../media/image48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2.png"/><Relationship Id="rId7" Type="http://schemas.openxmlformats.org/officeDocument/2006/relationships/image" Target="../media/image61.png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086475"/>
            <a:ext cx="11049000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238250"/>
            <a:ext cx="11601450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Sistema de Exploración y Búsqueda en un Entorno Jerárquico</a:t>
            </a:r>
            <a:endParaRPr sz="39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2453580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Proyecto 4: Árboles N-arios y Algoritmos DFS/BFS en C++</a:t>
            </a:r>
            <a:endParaRPr sz="150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3612802"/>
            <a:ext cx="11601450" cy="21907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Integrantes del Equipo:</a:t>
            </a:r>
            <a:endParaRPr sz="1350" b="0" i="0" u="none">
              <a:solidFill>
                <a:srgbClr val="F8FAFC"/>
              </a:solidFill>
              <a:latin typeface="Plus Jakarta Sans SemiBold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50902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203352"/>
            <a:ext cx="2667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26185" y="4200812"/>
            <a:ext cx="22860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Dennis </a:t>
            </a:r>
            <a:r>
              <a:rPr lang="es-MX" sz="1200" b="1" i="0" u="none">
                <a:solidFill>
                  <a:srgbClr val="F1F5F9"/>
                </a:solidFill>
                <a:latin typeface="Plus Jakarta Sans"/>
              </a:rPr>
              <a:t>Criollo </a:t>
            </a:r>
            <a:endParaRPr lang="es-MX" sz="1200" b="1" i="0" u="none">
              <a:solidFill>
                <a:srgbClr val="F1F5F9"/>
              </a:solidFill>
              <a:latin typeface="Plus Jakarta Sans"/>
            </a:endParaRPr>
          </a:p>
          <a:p>
            <a:pPr algn="l"/>
            <a:endParaRPr lang="es-MX" sz="1200" b="1" i="0" u="none">
              <a:solidFill>
                <a:srgbClr val="F1F5F9"/>
              </a:solidFill>
              <a:latin typeface="Plus Jakarta San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4203352"/>
            <a:ext cx="26670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72275" y="4108102"/>
            <a:ext cx="2466975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200" b="1" i="0" u="none">
                <a:solidFill>
                  <a:srgbClr val="F1F5F9"/>
                </a:solidFill>
                <a:latin typeface="Plus Jakarta Sans"/>
              </a:rPr>
              <a:t>Cristopher Lanchimba</a:t>
            </a:r>
            <a:r>
              <a:t>
</a:t>
            </a:r>
            <a:endParaRPr sz="1200" b="0" i="0" u="none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041552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71575" y="4946302"/>
            <a:ext cx="2047875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Didie</a:t>
            </a:r>
            <a:r>
              <a:rPr lang="es-MX" sz="1200" b="1" i="0" u="none">
                <a:solidFill>
                  <a:srgbClr val="F1F5F9"/>
                </a:solidFill>
                <a:latin typeface="Plus Jakarta Sans"/>
              </a:rPr>
              <a:t>r Enrique </a:t>
            </a:r>
            <a:r>
              <a:t>
</a:t>
            </a:r>
            <a:endParaRPr sz="1200" b="0" i="0" u="none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5041552"/>
            <a:ext cx="266700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72275" y="4946302"/>
            <a:ext cx="2181225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200" b="1" i="0" u="none">
                <a:solidFill>
                  <a:srgbClr val="F1F5F9"/>
                </a:solidFill>
                <a:latin typeface="Plus Jakarta Sans"/>
              </a:rPr>
              <a:t>Sebastian Moreno </a:t>
            </a:r>
            <a:r>
              <a:t>
</a:t>
            </a:r>
            <a:endParaRPr sz="1200" b="0" i="0" u="none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5738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9112"/>
            <a:ext cx="32385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57387"/>
            <a:ext cx="56407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Modelado de Entornos Jerárquicos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319337"/>
            <a:ext cx="53721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Las estructuras de datos jerárquicas son la columna vertebral de múltiples componentes del software moderno, como sistemas de archivos, menús multinivel y esquemas organizacionales.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966912"/>
            <a:ext cx="252412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1194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Representación Dinámica: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Modelado de directorios y archivos mediante nodos entrelazados.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7290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Exploración Sistemática: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Recorrido guiado partiendo desde una raíz raíz determinada.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3386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Ejecución Autónoma: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Motor programado en C++ con trazabilidad paso a paso.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33725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4332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52925"/>
            <a:ext cx="2190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9650" y="476250"/>
            <a:ext cx="1114139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Introducción al Proyecto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966595"/>
            <a:ext cx="5330190" cy="3553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43175"/>
            <a:ext cx="3530649" cy="2447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543175"/>
            <a:ext cx="3530649" cy="2447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99" y="2543175"/>
            <a:ext cx="3530649" cy="2447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9112"/>
            <a:ext cx="409575" cy="3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62325"/>
            <a:ext cx="320711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Sistemas de Archivos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625" y="3724275"/>
            <a:ext cx="30543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Bases conceptuales para arquitecturas como NTFS, ext4 o VFS en SO, donde directorios manejan punteros a subelementos.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68874" y="3362325"/>
            <a:ext cx="320711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Árboles Abstractos (AST)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68874" y="3724275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Compiladores e intérpretes construyen ASTs jerárquicos y aplican recorridos DFS para análisis sintáctico y optimización.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8124" y="3362325"/>
            <a:ext cx="320711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Web Crawlers y APIs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8124" y="3724275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Búsqueda en anchura (BFS) se usa para rastrear hipervínculos web nivel por nivel en motores de búsqueda modernos.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38450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838450"/>
            <a:ext cx="3048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838450"/>
            <a:ext cx="42862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5375" y="476250"/>
            <a:ext cx="11051381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Relación con Ing. de Software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09837"/>
            <a:ext cx="5372100" cy="2514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509837"/>
            <a:ext cx="5372100" cy="2514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9112"/>
            <a:ext cx="323850" cy="323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2786062"/>
            <a:ext cx="5060632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43F5E"/>
                </a:solidFill>
                <a:latin typeface="Plus Jakarta Sans SemiBold"/>
              </a:rPr>
              <a:t>Desafío Técnico</a:t>
            </a:r>
            <a:endParaRPr sz="1650" b="0" i="0" u="none">
              <a:solidFill>
                <a:srgbClr val="F43F5E"/>
              </a:solidFill>
              <a:latin typeface="Plus Jakarta Sans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7725" y="3148012"/>
            <a:ext cx="48196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Navegar por entornos de complejidad variable donde las decisiones tomadas en niveles superiores condicionan y restringen de forma estricta las rutas de acceso en los niveles inferiores.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7725" y="3948112"/>
            <a:ext cx="4819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Evitar bucles, controlar el desbordamiento de memoria y manejar ramificaciones dinámicas sin hardcoding.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24625" y="2786062"/>
            <a:ext cx="5060632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Requerimiento del Sistema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24625" y="3148012"/>
            <a:ext cx="48196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Implementar un motor de búsqueda autónomo capaz de cargar un entorno jerárquico indeterminado y localizar un archivo objetivo registrado.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4625" y="3948112"/>
            <a:ext cx="48196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Comparar de manera empírica la secuencia exacta de nodos visitados y la eficiencia operativa entre recorridos en profundidad y anchura.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824162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824162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9650" y="476250"/>
            <a:ext cx="1114139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El Problema a Resolver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6400" y="2662237"/>
            <a:ext cx="918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Objetivo General: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Desarrollar un sistema computacional en C++ que modele entornos jerárquicos y compare estrategias de búsqueda (DFS vs BFS) registrando rutas e historial de decisiones.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76400" y="3271837"/>
            <a:ext cx="9182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Estructura Dinámica: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Representar árboles N-arios utilizando la técnica eficiente de punteros </a:t>
            </a:r>
            <a:r>
              <a:rPr sz="1200" b="0" i="1" u="none">
                <a:solidFill>
                  <a:srgbClr val="94A3B8"/>
                </a:solidFill>
                <a:latin typeface="Plus Jakarta Sans"/>
              </a:rPr>
              <a:t>Primer Hijo - Siguiente Hermano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76400" y="3652837"/>
            <a:ext cx="918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Carga Externa: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Leer dinámicamente la jerarquía desde archivos de texto externos (`arbol.txt`) eliminando datos estáticos en código.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76400" y="4262437"/>
            <a:ext cx="918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Reportes y Trazabilidad: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Generar un reporte comparativo impreso en consola y guardado en archivo con el número de nodos visitados por cada algoritmo.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676525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286125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66712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276725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76250"/>
            <a:ext cx="1148143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Objetivos del Proyecto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57475"/>
            <a:ext cx="3530649" cy="2219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657475"/>
            <a:ext cx="3530649" cy="2219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99" y="2657475"/>
            <a:ext cx="3530649" cy="2219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9112"/>
            <a:ext cx="361950" cy="3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476625"/>
            <a:ext cx="320711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NodoArchivo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625" y="3838575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Unidad atómica que contiene el nombre del elemento, bandera booleana `esDirectorio`, y dos punteros de enlace.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68874" y="3476625"/>
            <a:ext cx="320711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Puntero primerHijo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68874" y="3838575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Enlace vertical al primer elemento contenido dentro de un directorio, habilitando el descenso jerárquico.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8124" y="3476625"/>
            <a:ext cx="320711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Puntero sigHermano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8124" y="3838575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Enlace horizontal al siguiente elemento del mismo nivel, transformando el árbol N-ario en estructura binaria.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95275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952750"/>
            <a:ext cx="4286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952750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7750" y="476250"/>
            <a:ext cx="1110138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Piezas de Lego del Sistema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5738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9112"/>
            <a:ext cx="409575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57387"/>
            <a:ext cx="56407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Ciclo de Desarrollo en Espiral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966912"/>
            <a:ext cx="535305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3193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Modelado Teórico: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Definición del árbol N-ario y traducción a estructura LCRS (Left-Child Right-Sibling).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9289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Parser de Archivo: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Desarrollo del módulo de lectura sintáctica línea a línea para reconstruir la jerarquía.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5385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Motor Algorítmico: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Codificación independiente de DFS recursivo y BFS iterativo.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1481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Validación y Reportes: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Pruebas unitarias de búsqueda y generación de archivo de salidas.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33625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43225"/>
            <a:ext cx="1238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52825"/>
            <a:ext cx="1238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162425"/>
            <a:ext cx="14287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5375" y="476250"/>
            <a:ext cx="11051381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Metodología Aplicada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86062"/>
            <a:ext cx="5909220" cy="1200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9112"/>
            <a:ext cx="409575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85520" y="2786062"/>
            <a:ext cx="507672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Ventajas de la Representación LCRS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85520" y="3148012"/>
            <a:ext cx="483497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En lugar de utilizar listas dinámicas de hijos (que incrementan el overhead de memoria), cada nodo mantiene exactamente </a:t>
            </a:r>
            <a:r>
              <a:rPr sz="1200" b="1" i="0" u="none">
                <a:solidFill>
                  <a:srgbClr val="F1F5F9"/>
                </a:solidFill>
                <a:latin typeface="Plus Jakarta Sans"/>
              </a:rPr>
              <a:t>2 punteros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85520" y="3948112"/>
            <a:ext cx="483497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Permite representar cualquier árbol de grado arbitrario manteniendo una asignación de memoria fija y predecible por nodo.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1525" y="2995612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struct</a:t>
            </a:r>
            <a:endParaRPr sz="1050" b="0" i="0" u="none">
              <a:solidFill>
                <a:srgbClr val="F43F5E"/>
              </a:solidFill>
              <a:latin typeface="JetBrains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04925" y="2995612"/>
            <a:ext cx="838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NodoArchivo</a:t>
            </a:r>
            <a:endParaRPr sz="1050" b="0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71725" y="2995612"/>
            <a:ext cx="838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std::string</a:t>
            </a:r>
            <a:endParaRPr sz="1050" b="0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95725" y="2995612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bool</a:t>
            </a:r>
            <a:endParaRPr sz="1050" b="0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43525" y="2995612"/>
            <a:ext cx="838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NodoArchivo</a:t>
            </a:r>
            <a:endParaRPr sz="1050" b="0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85925" y="3195637"/>
            <a:ext cx="838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NodoArchivo</a:t>
            </a:r>
            <a:endParaRPr sz="1050" b="0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90925" y="3195637"/>
            <a:ext cx="838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A855F7"/>
                </a:solidFill>
                <a:latin typeface="JetBrains Mono"/>
              </a:rPr>
              <a:t>NodoArchivo</a:t>
            </a:r>
            <a:endParaRPr sz="1050" b="0" i="0" u="none">
              <a:solidFill>
                <a:srgbClr val="A855F7"/>
              </a:solidFill>
              <a:latin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05325" y="3195637"/>
            <a:ext cx="838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std::string</a:t>
            </a:r>
            <a:endParaRPr sz="1050" b="0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00725" y="3195637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bool</a:t>
            </a:r>
            <a:endParaRPr sz="1050" b="0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81525" y="3395662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nullptr</a:t>
            </a:r>
            <a:endParaRPr sz="1050" b="0" i="0" u="none">
              <a:solidFill>
                <a:srgbClr val="F43F5E"/>
              </a:solidFill>
              <a:latin typeface="JetBrains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9725" y="3595687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nullptr</a:t>
            </a:r>
            <a:endParaRPr sz="1050" b="0" i="0" u="none">
              <a:solidFill>
                <a:srgbClr val="F43F5E"/>
              </a:solidFill>
              <a:latin typeface="JetBrains Mono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2595" y="4014787"/>
            <a:ext cx="110132" cy="1047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5375" y="476250"/>
            <a:ext cx="11051381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Diseño de la Estructura de Datos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5738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9112"/>
            <a:ext cx="36195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57387"/>
            <a:ext cx="56407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Búsqueda en Profundidad (DFS)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319337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Explora cada rama hasta el nivel más profundo posible antes de realizar backtracking hacia los nodos hermanos.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966912"/>
            <a:ext cx="535305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8908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Estrategia: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Implementación recursiva nativa basada en la pila de llamadas (Call Stack).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500437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Uso de Memoria: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Propocional a la altura del árbol 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8814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Orden: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Desciende a través de `primerHijo` y luego recorre `sigHermano`.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175" y="3557587"/>
            <a:ext cx="456902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0512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14725"/>
            <a:ext cx="2190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895725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7750" y="476250"/>
            <a:ext cx="1110138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Análisis: Algoritmo DFS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5738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9112"/>
            <a:ext cx="32385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57387"/>
            <a:ext cx="56407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Búsqueda en Anchura (BFS)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319337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Explora el árbol nivel por nivel, visitando todos los nodos de la profundidad actual antes de pasar al siguiente nivel.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966912"/>
            <a:ext cx="535305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8908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Estrategia: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Implementación iterativa mediante una cola FIFO (`std::queue`).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500437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Uso de Memoria: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Proporcional al ancho máximo de nivel 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88143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Garantía: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Encuentra el objetivo con el menor número de saltos de nivel desde la raíz.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525" y="3557587"/>
            <a:ext cx="490835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05125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14725"/>
            <a:ext cx="2190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895725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650" y="476250"/>
            <a:ext cx="1114139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Análisis: Algoritmo BFS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476625"/>
            <a:ext cx="5372100" cy="1514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9112"/>
            <a:ext cx="28575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543175"/>
            <a:ext cx="56407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Carga Dinámica (`arbol.txt`)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905125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El sistema reconstruye la estructura jerárquica mediante la lectura formatada del archivo sintáctico: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48400" y="2543175"/>
            <a:ext cx="56407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Pruebas de Integridad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91300" y="2905125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Rutas Inválidas: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Manejo de excepciones al abrir archivos inexistentes.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1300" y="3286125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Archivos Duplicados: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Verificación de nodos sin provocar ciclos.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91300" y="3667125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1F5F9"/>
                </a:solidFill>
                <a:latin typeface="Plus Jakarta Sans"/>
              </a:rPr>
              <a:t>Gestión de Memoria: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Liberación sistemática con destructor recursivo `delete`.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91941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300412"/>
            <a:ext cx="2381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3681412"/>
            <a:ext cx="17145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550" y="476250"/>
            <a:ext cx="1118139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Validación de la Estructura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57475"/>
            <a:ext cx="3530649" cy="2219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657475"/>
            <a:ext cx="3530649" cy="2219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99" y="2657475"/>
            <a:ext cx="3530649" cy="2219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9112"/>
            <a:ext cx="323850" cy="3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476625"/>
            <a:ext cx="320711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Librerías STL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625" y="3838575"/>
            <a:ext cx="30543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`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` para el soporte de BFS, ` 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` para guardar la ruta histórica y ` 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` para E/S de archivos. 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68874" y="3476625"/>
            <a:ext cx="320711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Punteros Crudos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68874" y="3838575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Gestión directa de memoria dinámica mediante `new` y `delete` para garantizar máximo rendimiento.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8124" y="3476625"/>
            <a:ext cx="320711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Formateo I/O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8124" y="3838575"/>
            <a:ext cx="30543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Uso de `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` e ` 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` para presentar reportes claros y estructurados por consola y texto. 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952750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952750"/>
            <a:ext cx="3905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952750"/>
            <a:ext cx="39052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9650" y="476250"/>
            <a:ext cx="1114139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Herramientas de C++ Utilizadas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19112"/>
            <a:ext cx="323850" cy="3238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05075"/>
          <a:ext cx="11048998" cy="2524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151"/>
                <a:gridCol w="3631257"/>
                <a:gridCol w="3963590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Criterio de Evaluación</a:t>
                      </a:r>
                      <a:endParaRPr sz="1200" b="1" i="0" u="none">
                        <a:solidFill>
                          <a:srgbClr val="38BDF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Búsqueda en Profundidad (DFS)</a:t>
                      </a:r>
                      <a:endParaRPr sz="1200" b="1" i="0" u="none">
                        <a:solidFill>
                          <a:srgbClr val="38BDF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Búsqueda en Anchura (BFS)</a:t>
                      </a:r>
                      <a:endParaRPr sz="1200" b="1" i="0" u="none">
                        <a:solidFill>
                          <a:srgbClr val="38BDF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Estructura Auxiliar</a:t>
                      </a:r>
                      <a:endParaRPr sz="1200" b="1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Pila de Llamadas (Recursividad)</a:t>
                      </a:r>
                      <a:endParaRPr sz="1200" b="0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Cola FIFO (`std::queue`)</a:t>
                      </a:r>
                      <a:endParaRPr sz="1200" b="0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Orden de Exploración</a:t>
                      </a:r>
                      <a:endParaRPr sz="1200" b="1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Vertical (Rama profunda primero)</a:t>
                      </a:r>
                      <a:endParaRPr sz="1200" b="0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Horizontal (Nivel por nivel)</a:t>
                      </a:r>
                      <a:endParaRPr sz="1200" b="0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Complejidad Espacial</a:t>
                      </a:r>
                      <a:endParaRPr sz="1200" b="1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s-MX"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O(h) -Altura del </a:t>
                      </a:r>
                      <a:r>
                        <a:rPr lang="en-US" altLang="en-US"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á</a:t>
                      </a:r>
                      <a:r>
                        <a:rPr lang="en-US" altLang="es-MX"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rbol</a:t>
                      </a:r>
                      <a:endParaRPr lang="en-US" altLang="es-MX" sz="1200" b="0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s-MX"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O(w) - Anchura del nivel</a:t>
                      </a:r>
                      <a:endParaRPr lang="en-US" altLang="es-MX" sz="1200" b="0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Eficiencia en Archivos Superficiales</a:t>
                      </a:r>
                      <a:endParaRPr sz="1200" b="1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Podría explorar subramas innecesarias</a:t>
                      </a:r>
                      <a:endParaRPr sz="1200" b="0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Óptimo</a:t>
                      </a:r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 (Encuentra la menor profundidad)</a:t>
                      </a:r>
                      <a:endParaRPr sz="1200" b="0" i="0" u="none">
                        <a:solidFill>
                          <a:srgbClr val="94A3B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995612"/>
            <a:ext cx="34541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5651" y="2995612"/>
            <a:ext cx="36312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56909" y="2995612"/>
            <a:ext cx="39635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500437"/>
            <a:ext cx="34541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5651" y="3500437"/>
            <a:ext cx="36312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56909" y="3500437"/>
            <a:ext cx="39635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005262"/>
            <a:ext cx="34541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5651" y="4005262"/>
            <a:ext cx="36312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56909" y="4005262"/>
            <a:ext cx="39635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510087"/>
            <a:ext cx="34541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5651" y="4510087"/>
            <a:ext cx="36312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56909" y="4510087"/>
            <a:ext cx="39635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014912"/>
            <a:ext cx="34541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5651" y="5014912"/>
            <a:ext cx="36312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56909" y="5014912"/>
            <a:ext cx="39635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650" y="476250"/>
            <a:ext cx="1114139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Resultados y Comparativa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24137"/>
            <a:ext cx="53721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624137"/>
            <a:ext cx="53721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9112"/>
            <a:ext cx="285750" cy="323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2900362"/>
            <a:ext cx="5060632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Conclusiones</a:t>
            </a:r>
            <a:endParaRPr sz="1650" b="0" i="0" u="none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7725" y="3262312"/>
            <a:ext cx="48196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1. La técnica </a:t>
            </a:r>
            <a:r>
              <a:rPr sz="1200" b="0" i="1" u="none">
                <a:solidFill>
                  <a:srgbClr val="94A3B8"/>
                </a:solidFill>
                <a:latin typeface="Plus Jakarta Sans"/>
              </a:rPr>
              <a:t>Primer Hijo - Siguiente Hermano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optimizó el almacenamiento dinámico permitiendo árboles N-arios con solo 2 punteros por nodo.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7725" y="4062412"/>
            <a:ext cx="4819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2. BFS garantiza la ruta de menor nivel jerárquico, mientras que DFS minimiza el uso de memoria en estructuras anchas.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24625" y="2900362"/>
            <a:ext cx="5060632" cy="26670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59E0B"/>
                </a:solidFill>
                <a:latin typeface="Plus Jakarta Sans SemiBold"/>
              </a:rPr>
              <a:t>Recomendaciones</a:t>
            </a:r>
            <a:endParaRPr sz="1650" b="0" i="0" u="none">
              <a:solidFill>
                <a:srgbClr val="F59E0B"/>
              </a:solidFill>
              <a:latin typeface="Plus Jakarta Sa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24625" y="3262312"/>
            <a:ext cx="4819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1. Integrar punteros inteligentes (`std::unique_ptr`) para automatizar la liberación de memoria en C++ moderno.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4625" y="3833812"/>
            <a:ext cx="4819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2. Implementar un índice Hash adicional para realizar búsquedas en tiempo constante en entornos masivos.</a:t>
            </a:r>
            <a:endParaRPr sz="12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938462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938462"/>
            <a:ext cx="1619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600" y="4119562"/>
            <a:ext cx="456902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550" y="476250"/>
            <a:ext cx="1118139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Conclusiones y Recomendaciones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35755" y="476250"/>
            <a:ext cx="392049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Plus Jakarta Sans"/>
              </a:rPr>
              <a:t>¿Preguntas?</a:t>
            </a:r>
            <a:endParaRPr sz="48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3675" y="1390650"/>
            <a:ext cx="67246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Sistema de Búsqueda y Exploración en Entornos Jerárquicos en C++</a:t>
            </a:r>
            <a:endParaRPr sz="165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987" y="2124075"/>
            <a:ext cx="2590800" cy="409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287" y="2124075"/>
            <a:ext cx="1228725" cy="409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112" y="2257425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412" y="2257425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14550" y="2228850"/>
            <a:ext cx="79629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14550" y="3000375"/>
            <a:ext cx="79629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14550" y="3771900"/>
            <a:ext cx="79629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14550" y="2990850"/>
            <a:ext cx="7962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14550" y="2990850"/>
            <a:ext cx="7962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14550" y="3762375"/>
            <a:ext cx="7962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14550" y="3762375"/>
            <a:ext cx="7962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14550" y="4533900"/>
            <a:ext cx="7962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14550" y="4533900"/>
            <a:ext cx="7962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237172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9925" y="2378868"/>
            <a:ext cx="68675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https://upload.wikimedia.org/wikipedia/commons/2/2c/File_Hierarchy.png</a:t>
            </a:r>
            <a:endParaRPr sz="975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9925" y="2612231"/>
            <a:ext cx="6867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en.wikipedia.org</a:t>
            </a:r>
            <a:endParaRPr sz="1200" b="0" i="0" u="none">
              <a:solidFill>
                <a:srgbClr val="4F46E5"/>
              </a:solidFill>
              <a:latin typeface="Plus Jakarta San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314325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09925" y="3150393"/>
            <a:ext cx="68675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https://miro.medium.com/v2/resize:fit:1400/1*olZKa4JD0XYAODPKKegCKg.png</a:t>
            </a:r>
            <a:endParaRPr sz="975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9925" y="3383756"/>
            <a:ext cx="6867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medium.com</a:t>
            </a:r>
            <a:endParaRPr sz="1200" b="0" i="0" u="none">
              <a:solidFill>
                <a:srgbClr val="4F46E5"/>
              </a:solidFill>
              <a:latin typeface="Plus Jakarta Sans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50" y="391477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09925" y="3921918"/>
            <a:ext cx="68675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https://media.geeksforgeeks.org/wp-content/uploads/20240216084522/bfs-vs-dfs-(1).png</a:t>
            </a:r>
            <a:endParaRPr sz="975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09925" y="4155281"/>
            <a:ext cx="6867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www.geeksforgeeks.org</a:t>
            </a:r>
            <a:endParaRPr sz="1200" b="0" i="0" u="none">
              <a:solidFill>
                <a:srgbClr val="4F46E5"/>
              </a:solidFill>
              <a:latin typeface="Plus Jakarta Sans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550" y="46863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09925" y="4693443"/>
            <a:ext cx="68675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https://media.geeksforgeeks.org/wp-content/uploads/20250325144413000201/Level-Order-Traversal-01.webp</a:t>
            </a:r>
            <a:endParaRPr sz="975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9925" y="4926806"/>
            <a:ext cx="6867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www.geeksforgeeks.org</a:t>
            </a:r>
            <a:endParaRPr sz="1200" b="0" i="0" u="none">
              <a:solidFill>
                <a:srgbClr val="4F46E5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Image Sources</a:t>
            </a:r>
            <a:endParaRPr sz="2550" b="1" i="0" u="none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6566</Words>
  <Application>WPS Presentation</Application>
  <PresentationFormat>On-screen Show (4:3)</PresentationFormat>
  <Paragraphs>241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Plus Jakarta Sans SemiBold</vt:lpstr>
      <vt:lpstr>Times New Roman</vt:lpstr>
      <vt:lpstr>Plus Jakarta Sans</vt:lpstr>
      <vt:lpstr>JetBrains Mono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WPS_1708091478</cp:lastModifiedBy>
  <cp:revision>4</cp:revision>
  <dcterms:created xsi:type="dcterms:W3CDTF">2013-01-27T09:14:00Z</dcterms:created>
  <dcterms:modified xsi:type="dcterms:W3CDTF">2026-07-26T17:32:19Z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2058-12.1.0.27458</vt:lpwstr>
  </property>
  <property fmtid="{D5CDD505-2E9C-101B-9397-08002B2CF9AE}" pid="3" name="ICV">
    <vt:lpwstr>AB6AA5C20BC944A0B289F29D54F8C58E_13</vt:lpwstr>
  </property>
</Properties>
</file>