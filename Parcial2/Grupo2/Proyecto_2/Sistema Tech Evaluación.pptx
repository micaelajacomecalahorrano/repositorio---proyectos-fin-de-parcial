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Space Grotesk Medium"/>
      <p:regular r:id="rId22"/>
      <p:bold r:id="rId23"/>
    </p:embeddedFont>
    <p:embeddedFont>
      <p:font typeface="Rajdhani"/>
      <p:regular r:id="rId24"/>
      <p:bold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paceGroteskMedium-regular.fntdata"/><Relationship Id="rId21" Type="http://schemas.openxmlformats.org/officeDocument/2006/relationships/slide" Target="slides/slide16.xml"/><Relationship Id="rId24" Type="http://schemas.openxmlformats.org/officeDocument/2006/relationships/font" Target="fonts/Rajdhani-regular.fntdata"/><Relationship Id="rId23" Type="http://schemas.openxmlformats.org/officeDocument/2006/relationships/font" Target="fonts/SpaceGrotesk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-regular.fntdata"/><Relationship Id="rId25" Type="http://schemas.openxmlformats.org/officeDocument/2006/relationships/font" Target="fonts/Rajdhani-bold.fntdata"/><Relationship Id="rId27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9787" y="3648967"/>
            <a:ext cx="79724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827782"/>
            <a:ext cx="11581447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SISTEMA DE EVALUACIÓN ACADÉMICA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43337" y="2542282"/>
            <a:ext cx="45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F0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[ Basado en Inferencia Lógica]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405062" y="3944242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2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&gt;&gt;</a:t>
            </a: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Integrantes: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Dennis Criollo, Cristopher Lanchimba, Didier Elbay, Felipe Moreno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405062" y="4391917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2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&gt;&gt;</a:t>
            </a: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Institución: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Universidad de las Fuerzas Armadas ESPE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405062" y="4839592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2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&gt;&gt;</a:t>
            </a: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Asignatura: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Modelos Discretos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405062" y="5287267"/>
            <a:ext cx="7381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2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&gt;&gt;</a:t>
            </a: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Fecha: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Mayo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8123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216217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¿QUÉ ES ESTE PROYECTO?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266700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Es un modelo matemático y computacional programado en C++ diseñado para evaluar automáticamente a los estudiantes a través de inferencia.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386715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¿POR QUÉ SE REALIZÓ?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371975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estructurar la toma de decisiones. Usamos teoría de conjuntos, probabilidad y lógica para eliminar la subjetividad y predecir el rendimiento académico de forma precisa.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90762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INTRODUCCIÓN AL PROYECTO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581025"/>
            <a:ext cx="5190648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EL PROBLEMA A RESOLVER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81025" y="1781175"/>
            <a:ext cx="494347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050" y="9525"/>
            <a:ext cx="6067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2619375"/>
            <a:ext cx="519064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EVALUACIÓN SUBJETIVA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81025" y="3124200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Actualmente, clasificar el estado de un estudiante (si aprueba, reprueba o va a recuperación) puede ser un proceso humano propenso a errores y falta de predictibilidad.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4486275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La importancia de este proyecto radica en aplicar principios de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Modelos Discretos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para garantizar que las reglas académicas sean consistentes, medibles y escalables a miles de alumnos simultáneos.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0250"/>
            <a:ext cx="34226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000250"/>
            <a:ext cx="34226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8225" y="2000250"/>
            <a:ext cx="34226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67085" y="3067050"/>
            <a:ext cx="265033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OBJETIVO GENERAL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76300" y="3571875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Modelar matemática y algorítmicamente el sistema de evaluación académica utilizando inferencia lógica y principios de conteo.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09099" y="3067050"/>
            <a:ext cx="297365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OBJETIVO ESPECÍFICO 1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79900" y="3933825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Calcular todos los estados posibles del estudiante y determinar las probabilidades exactas de transición (ej. recuperación a aprobación).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12699" y="3067050"/>
            <a:ext cx="297365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OBJETIVO ESPECÍFICO 2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83500" y="3933825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Implementar el modelo en C++ demostrando una complejidad algorítmica óptima y validando la lógica mediante inducción.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3650" y="2343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101" y="23431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42276" y="23431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NUESTROS OBJETIVOS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58330"/>
            <a:ext cx="34226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358330"/>
            <a:ext cx="34226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8225" y="2358330"/>
            <a:ext cx="34226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5" y="1642169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sistema se construye sobre 3 variables categóricas (conjuntos finitos).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05498" y="3425130"/>
            <a:ext cx="297365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CONJUNTO P (PROMEDIO)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77800" y="4291905"/>
            <a:ext cx="2628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Tiene 3 categorías (Card=3):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(≥ 8.5)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(7.0 a 8.4)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Bajo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(&lt; 7.0)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09099" y="3425130"/>
            <a:ext cx="297365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CONJUNTO A (ASISTENCIA)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252888" y="4291905"/>
            <a:ext cx="16859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Binario (Card=2):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Cumple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(≥ 75%)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cumple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(&lt; 75%)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412699" y="3425130"/>
            <a:ext cx="297365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CONJUNTO C (ACTIVIDADES)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761214" y="4291905"/>
            <a:ext cx="22764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Tiene 3 niveles (Card=3):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Parcial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Nulo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2225" y="270123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251" y="270123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70851" y="270123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PIEZAS DE LEGO: CONJUNTOS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581025" y="4167187"/>
            <a:ext cx="1102995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17605" y="4519612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1. MULTIPLICATIVO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81025" y="494823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Contamos todas las combinaciones posibles de estudiantes.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3348614" y="2386012"/>
            <a:ext cx="266361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2. PROBABILIDAD TOTAL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3412033" y="3100387"/>
            <a:ext cx="2536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Calculamos el % predictivo de aprobar un supletorio.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179622" y="4519612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3. VALIDACIÓN TEÓRICA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243042" y="494823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Aplicamos inducción matemática y Diagrama de Hasse.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010631" y="2366962"/>
            <a:ext cx="2663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4. CÓDIGO FUENTE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074050" y="27955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Codificamos la lógica en C++ y analizamos su eficiencia.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1730350" y="4067175"/>
            <a:ext cx="238125" cy="238125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B02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4561358" y="4067175"/>
            <a:ext cx="238125" cy="238125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B02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392367" y="4067175"/>
            <a:ext cx="238125" cy="238125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B02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10223375" y="4067175"/>
            <a:ext cx="238125" cy="238125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B02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METODOLOGÍA APLICADA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52750"/>
            <a:ext cx="510420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1484" y="3605212"/>
            <a:ext cx="544949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81025" y="4572000"/>
            <a:ext cx="510420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ESTADOS ACADÉMICOS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161484" y="1995487"/>
            <a:ext cx="572196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¿POR QUÉ 18?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161484" y="2500312"/>
            <a:ext cx="54494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Aplicamos el Principio Fundamental de Conteo. Si multiplicamos el número de opciones de cada conjunto, descubrimos todos los perfiles posibles.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161484" y="4824412"/>
            <a:ext cx="544949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2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Ejemplo: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El estado (p1, a1, c1) es un alumno Excelente en todo. El estado (p3, a2, c3) representa reprobación crítica.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9609" y="3995737"/>
            <a:ext cx="501134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DISEÑO: PRINCIPIO DE CONTEO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95500"/>
            <a:ext cx="52768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276850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971550" y="248602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CUANDO EL ORDEN NO IMPORTA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71550" y="2990850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Imagina que hay 3 evaluaciones parciales en el semestre y el estudiante solo necesita aprobar 2 para pasar la materia.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71550" y="4048125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Usamos combinaciones para demostrar que da igual si aprueba el Parcial 1 y 2, o el Parcial 2 y 3. El resultado lógico procesado por la máquina es el mismo.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724650" y="248602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FÓRMULA APLICADA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724650" y="4356199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Existen </a:t>
            </a: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 caminos lógicos distintos</a:t>
            </a:r>
            <a:r>
              <a:rPr b="0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para aprobar de esta forma.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5801" y="3419475"/>
            <a:ext cx="3213348" cy="3652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ANÁLISIS COMBINATORIO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52750"/>
            <a:ext cx="52768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81025" y="4572000"/>
            <a:ext cx="5276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PROB. DE APROBAR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34125" y="207645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TEOREMA DE PROBABILIDAD TOTAL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334125" y="258127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Si un estudiante va a Recuperación, ¿pasará? Usamos su historial de asistencia para que el sistema calcule una predicción certera.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457950" y="3638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524625" y="3638550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Buena asistencia: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75% * 0.60 = 0.45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457950" y="4086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•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524625" y="408622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Mala asistencia: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20% * 0.40 = 0.08</a:t>
            </a:r>
            <a:endParaRPr/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6008" y="4972050"/>
            <a:ext cx="4231034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PREDICTIBILIDAD MATEMÁTICA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2281237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6334125" y="21812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1. INDUCCIÓN MATEMÁTICA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334125" y="2686050"/>
            <a:ext cx="527685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Demostramos que si el programa evalúa bien 1 actividad C(1) = E(1), la regla lógica C(n) = C(n-1) AND E(n) asegura que evaluará perfectamente infinitas actividades sin colapsar ni generar bugs.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334125" y="415290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2. DIAGRAMA DE HASSE (POSET)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334125" y="46577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Organizamos los estados. Muestra la jerarquía del flujo de datos: No se salta al éxito, se sigue la ruta de nodos: </a:t>
            </a:r>
            <a:r>
              <a:rPr b="0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Reprobación → Recuperación → Aprobación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/>
          </a:p>
        </p:txBody>
      </p:sp>
      <p:pic>
        <p:nvPicPr>
          <p:cNvPr descr="image.png" id="231" name="Google Shape;2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8775" y="2357437"/>
            <a:ext cx="31813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VALIDACIÓN ESTRUCTURAL DEL SISTEMA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67075"/>
            <a:ext cx="52768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123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81025" y="220980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modelo matemático se tradujo a funciones limpias en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C++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. Aquí el fragmento clave que convierte la teoría predictiva en código ejecutable: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81025" y="49339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Transformamos la matemática discreta en algoritmos lineales e infalibles.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28675" y="3514725"/>
            <a:ext cx="3292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/* P(Sapr|Srec) = P(Sapr|a1)*P(a1) + P(Sapr|a2)*P(a2) */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28675" y="3857625"/>
            <a:ext cx="4573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26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377553" y="3857625"/>
            <a:ext cx="22864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0FF"/>
                </a:solidFill>
                <a:latin typeface="Courier New"/>
                <a:ea typeface="Courier New"/>
                <a:cs typeface="Courier New"/>
                <a:sym typeface="Courier New"/>
              </a:rPr>
              <a:t>calcularProbabilidadTotal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3755528" y="3857625"/>
            <a:ext cx="4573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26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4853136" y="3857625"/>
            <a:ext cx="4573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26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377404" y="4029075"/>
            <a:ext cx="4573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26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2566392" y="4029075"/>
            <a:ext cx="4573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26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1194494" y="4200525"/>
            <a:ext cx="5487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0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endParaRPr/>
          </a:p>
        </p:txBody>
      </p:sp>
      <p:pic>
        <p:nvPicPr>
          <p:cNvPr descr="image.png" id="251" name="Google Shape;25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290762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HERRAMIENTAS: C++ CORE LOGIC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71662"/>
            <a:ext cx="5276850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71662"/>
            <a:ext cx="527685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971550" y="22621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¿QUÉ SE OBTUVO?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971550" y="276701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Un sistema robusto que asigna a cada estudiante uno de los 18 perfiles de forma automática y libre de sesgo humano.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971550" y="382428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 validó que las probabilidades condicionadas ofrecen una predicción técnica real sobre la retención estudiantil.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724650" y="22621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COMPLEJIDAD COMPUTACIONAL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724650" y="276701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Evaluar a 1 estudiante toma tiempo constante en CPU: </a:t>
            </a: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O(1)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724650" y="351948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Evaluar a 'm' estudiantes genera una complejidad total de </a:t>
            </a:r>
            <a:r>
              <a:rPr b="1" i="0" lang="en-US" sz="150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O(m)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. Esto es </a:t>
            </a:r>
            <a:r>
              <a:rPr b="1" i="0" lang="en-US" sz="1500" u="none" cap="none" strike="noStrike">
                <a:solidFill>
                  <a:srgbClr val="B02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complejidad lineal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724650" y="457676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Beneficio: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Procesar datos masivos toma milisegundos sin sobrecargar la RAM ni trabar servidores.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RESULTADOS DE EFICIENCIA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809750" y="2131218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Existen exactamente 18 estados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derivados de la multiplicación de conjuntos, cubriendo el 100% de escenarios posibles del estudiante.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809750" y="3039665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Poder predictivo: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Logramos calcular matemáticamente que la transición exitosa de un supletorio es del 53%, basada puramente en el historial.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809750" y="3948112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Reglas infalibles: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La inducción matemática certifica analíticamente que las operaciones de la máquina nunca fallarán por errores de lógica.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809750" y="4856559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Alta escalabilidad: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Su complejidad lineal O(m) garantiza rendimiento superior al procesar bases de datos universitarias masivas.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145506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053953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96240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870846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CONCLUSIONES CLAVE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/>
          <p:nvPr/>
        </p:nvSpPr>
        <p:spPr>
          <a:xfrm>
            <a:off x="5381625" y="1308943"/>
            <a:ext cx="1428750" cy="19050"/>
          </a:xfrm>
          <a:prstGeom prst="rect">
            <a:avLst/>
          </a:prstGeom>
          <a:solidFill>
            <a:srgbClr val="B02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 txBox="1"/>
          <p:nvPr/>
        </p:nvSpPr>
        <p:spPr>
          <a:xfrm>
            <a:off x="1125378" y="1613743"/>
            <a:ext cx="9941242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RECOMENDACIONES FUTURAS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2286000" y="3061543"/>
            <a:ext cx="7620000" cy="2773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Integración de Datos: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Conectar el algoritmo C++ actual a una Base de Datos SQL en la nube para consumir historiales reales en tiempo real.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950" u="none" cap="none" strike="noStrike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Despliegue Frontend: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 Diseñar una Interfaz Gráfica (Dashboard Web) para que docentes sin conocimiento en código puedan utilizar la predicción.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 txBox="1"/>
          <p:nvPr/>
        </p:nvSpPr>
        <p:spPr>
          <a:xfrm>
            <a:off x="2555557" y="581025"/>
            <a:ext cx="708088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¿PREGUNTAS?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2071687" y="2238375"/>
            <a:ext cx="8048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 de la simulación. Gracias por su atención al modelo.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5076825" y="3249810"/>
            <a:ext cx="2038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26FF"/>
                </a:solidFill>
                <a:latin typeface="Rajdhani"/>
                <a:ea typeface="Rajdhani"/>
                <a:cs typeface="Rajdhani"/>
                <a:sym typeface="Rajdhani"/>
              </a:rPr>
              <a:t>[ SYSTEM.EXIT(0) 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/>
          <p:nvPr/>
        </p:nvSpPr>
        <p:spPr>
          <a:xfrm>
            <a:off x="581025" y="228421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581025" y="3267075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81025" y="4051845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581025" y="32575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581025" y="32575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581025" y="40423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581025" y="404232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581025" y="482709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581025" y="482709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5" name="Google Shape;31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327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/>
          <p:nvPr/>
        </p:nvSpPr>
        <p:spPr>
          <a:xfrm>
            <a:off x="1676400" y="242708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https://static.vecteezy.com/system/resources/previews/060/615/203/non_2x/blue-futuristic-technology-abstract-background-with-glowing-hexagonal-nodes-data-visualizations-modern-digital-network-concept-vector.jpg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1676400" y="287089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ace Grotesk"/>
                <a:ea typeface="Space Grotesk"/>
                <a:cs typeface="Space Grotesk"/>
                <a:sym typeface="Space Grotesk"/>
              </a:rPr>
              <a:t>www.vecteezy.com</a:t>
            </a:r>
            <a:endParaRPr/>
          </a:p>
        </p:txBody>
      </p:sp>
      <p:pic>
        <p:nvPicPr>
          <p:cNvPr descr="image.png" id="318" name="Google Shape;31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164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 txBox="1"/>
          <p:nvPr/>
        </p:nvSpPr>
        <p:spPr>
          <a:xfrm>
            <a:off x="1676400" y="340995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https://images.stockcake.com/public/b/b/1/bb141b28-f032-435e-bf29-dfa75f6d39e9_medium/server-room-chaos-stockcake.jpg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676400" y="365566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stockcake.com</a:t>
            </a:r>
            <a:endParaRPr/>
          </a:p>
        </p:txBody>
      </p:sp>
      <p:pic>
        <p:nvPicPr>
          <p:cNvPr descr="image.png" id="321" name="Google Shape;32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012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1676400" y="419472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https://i.sstatic.net/il5EM.png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1676400" y="444043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stackoverflow.com</a:t>
            </a:r>
            <a:endParaRPr/>
          </a:p>
        </p:txBody>
      </p:sp>
      <p:pic>
        <p:nvPicPr>
          <p:cNvPr descr="image.png" id="324" name="Google Shape;32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8603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 txBox="1"/>
          <p:nvPr/>
        </p:nvSpPr>
        <p:spPr>
          <a:xfrm>
            <a:off x="1676400" y="497949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https://images.vscodethemes.com/ms-vscode.cpptools-themes/2017-dark-visual-studio-c-c-js-preview-CjTV.svg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1676400" y="522520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pace Grotesk"/>
                <a:ea typeface="Space Grotesk"/>
                <a:cs typeface="Space Grotesk"/>
                <a:sym typeface="Space Grotesk"/>
              </a:rPr>
              <a:t>vscodethemes.com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F0FF"/>
                </a:solidFill>
                <a:latin typeface="Rajdhani"/>
                <a:ea typeface="Rajdhani"/>
                <a:cs typeface="Rajdhani"/>
                <a:sym typeface="Rajdhani"/>
              </a:rPr>
              <a:t>IMAGE SOURCES</a:t>
            </a:r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581025" y="1228725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